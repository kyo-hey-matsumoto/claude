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予算配分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bubble3D val="0"/>
            <c:spPr>
              <a:solidFill>
                <a:srgbClr val="1F2A44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インフルエンサー起用費</c:v>
                </c:pt>
                <c:pt idx="1">
                  <c:v>Meta広告配信費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1500000</c:v>
                </c:pt>
                <c:pt idx="1">
                  <c:v>1500000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B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C8102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4754880" cy="4754880"/>
          </a:xfrm>
          <a:prstGeom prst="ellipse">
            <a:avLst/>
          </a:prstGeom>
          <a:solidFill>
            <a:srgbClr val="1F2A4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京急アド newcalチーム 御中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みさきまぐろきっぷ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シルバーウィーク販促プロモーション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Promotion Proposal 1.0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"One Catch, Many Days." Promotion Proposal 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Date : 2026.8.5</a:t>
            </a:r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0"/>
            <a:ext cx="9784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単にシルバーウィーク中の「みさきまぐろきっぷ」の広告を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打つことが目的ではありません。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まぐろ一本の話題が多くの人に伝わっていくように、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シルバーウィーク前から一気に「知っている人」を増やし、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話題そのものを大きくしていくためのご提案です。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（分散は、インフルエンサーの言葉の端々にそっと忍ばせる、裏テーマとして扱います）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与件整理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486400" cy="23317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＜製品コンセプト＞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三浦半島・三崎方面への往復乗車券に、まぐろ料理の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食事券等をセットにした京急の企画乗車券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「みさきまぐろきっぷ」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26517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みさきまぐろきっぷ（単価 ¥3,750）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9809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29809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全世代（カップル・夫婦・ファミリー・ソロ／女子旅）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3101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33101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京急線各駅／京急ホームページ・オンライン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＜今回の目標＞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00200" y="4160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シルバーウィーク付近における売上最大化（話題化を主軸）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サブ目標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00200" y="46634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インフルエンサーの発信を通じた、さりげない来訪分散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＜数値前提＞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554480"/>
            <a:ext cx="2468880" cy="105156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6642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¥3,000,000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00800" y="2221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総予算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15400" y="1554480"/>
            <a:ext cx="2468880" cy="105156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16642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¥1,000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52560" y="2221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CAC目標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743200"/>
            <a:ext cx="2468880" cy="105156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852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3,000人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400800" y="3410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送客目標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15400" y="2743200"/>
            <a:ext cx="2468880" cy="105156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0" y="2852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¥11,250,000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052560" y="3410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想定売上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3977640"/>
            <a:ext cx="5120640" cy="6400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3977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広告宣伝比率 26.6%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63640" y="4754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内訳：Meta広告 ¥1,500,000／インフルエンサー起用 ¥1,500,000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（SNS懸賞キャンペーンの景品費・PRクーポン原資は本予算に含めません）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参考：インフルエンサー起用による話題化のパターン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信頼で、話題化する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566160" cy="37033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観光庁のお墨付きなど、第三者評価がある発信者の情報は、そのまま信頼される。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送客実績・公的評価があるほどコンバージョンに直結しやすい。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共感で、話題化する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566160" cy="37033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1488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地域密着・カップル発信のアカウントが、身近な週末プランとして自然に紹介する。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「自分ごと化」しやすく、さりげない一言も自然に届く。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5029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371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物量で、話題化する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566160" cy="37033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488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フォロワー数そのものの物量でリーチを最大化するアプローチ。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短期間で「知っている人」の母数を一気に増やせる。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Who（target）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2F1EE"/>
          </a:solidFill>
          <a:ln w="12700">
            <a:solidFill>
              <a:srgbClr val="D8D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87452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カップル・夫婦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同棲／新婚〜共働き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週末の日帰りデート先を探している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2F1EE"/>
          </a:solidFill>
          <a:ln w="12700">
            <a:solidFill>
              <a:srgbClr val="D8D8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187452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ファミリー層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3063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子どもと一緒に楽しめる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近場の小旅行を探している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2F1EE"/>
          </a:solidFill>
          <a:ln w="12700">
            <a:solidFill>
              <a:srgbClr val="D8D8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187452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ソロ／女子旅層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3063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グルメや写真映えを目的に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気軽に出かけたい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11274552" cy="6400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三世代とも「東京・横浜から日帰りで行ける、ちゃんと非日常」という条件で三崎を検討している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554480"/>
            <a:ext cx="9784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三崎方面は、東京・横浜から日帰りで行ける非日常として</a:t>
            </a:r>
            <a:endParaRPr lang="en-US" sz="17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高いポテンシャルを持っています。</a:t>
            </a:r>
            <a:endParaRPr lang="en-US" sz="1700" dirty="0"/>
          </a:p>
          <a:p>
            <a:pPr algn="l" indent="0" marL="0">
              <a:lnSpc>
                <a:spcPct val="150000"/>
              </a:lnSpc>
              <a:buNone/>
            </a:pPr>
            <a:endParaRPr lang="en-US" sz="17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一方で、まぐろ切符自体の認知は、東京・横浜の</a:t>
            </a:r>
            <a:endParaRPr lang="en-US" sz="17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日帰り旅行層にまだ十分に浸透しきっていません。</a:t>
            </a:r>
            <a:endParaRPr lang="en-US" sz="1700" dirty="0"/>
          </a:p>
          <a:p>
            <a:pPr algn="l" indent="0" marL="0">
              <a:lnSpc>
                <a:spcPct val="150000"/>
              </a:lnSpc>
              <a:buNone/>
            </a:pPr>
            <a:endParaRPr lang="en-US" sz="17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話題になれば、シルバーウィークという一過性の集中に</a:t>
            </a:r>
            <a:endParaRPr lang="en-US" sz="17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頼らずとも売れる商品になり得ます。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88720" y="4572000"/>
            <a:ext cx="5943600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45720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ここに、商機があると考えます。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RTB (reason to believe)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なぜ広告×インフルエンサーの組み合わせが、話題化を最大化するのか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120640" cy="2743200"/>
          </a:xfrm>
          <a:prstGeom prst="ellipse">
            <a:avLst/>
          </a:prstGeom>
          <a:solidFill>
            <a:srgbClr val="1F2A44">
              <a:alpha val="12000"/>
            </a:srgbClr>
          </a:solidFill>
          <a:ln w="19050">
            <a:solidFill>
              <a:srgbClr val="1F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Meta広告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配信量をコントロールできる</a:t>
            </a:r>
            <a:endParaRPr lang="en-US" sz="1150" dirty="0"/>
          </a:p>
          <a:p>
            <a:pPr algn="l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短期間で最大リーチを獲得できる</a:t>
            </a:r>
            <a:endParaRPr lang="en-US" sz="1150" dirty="0"/>
          </a:p>
          <a:p>
            <a:pPr algn="l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訴求メッセージを完全に</a:t>
            </a:r>
            <a:endParaRPr lang="en-US" sz="1150" dirty="0"/>
          </a:p>
          <a:p>
            <a:pPr algn="l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コントロールできる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28232" y="1600200"/>
            <a:ext cx="5120640" cy="2743200"/>
          </a:xfrm>
          <a:prstGeom prst="ellipse">
            <a:avLst/>
          </a:prstGeom>
          <a:solidFill>
            <a:srgbClr val="C8102E">
              <a:alpha val="12000"/>
            </a:srgbClr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インフルエンサー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59752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フォロワーとの信頼関係の中で</a:t>
            </a:r>
            <a:endParaRPr lang="en-US" sz="1150" dirty="0"/>
          </a:p>
          <a:p>
            <a:pPr algn="l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自然に紹介してもらえる</a:t>
            </a:r>
            <a:endParaRPr lang="en-US" sz="1150" dirty="0"/>
          </a:p>
          <a:p>
            <a:pPr algn="l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地域・カップルなど文脈に</a:t>
            </a:r>
            <a:endParaRPr lang="en-US" sz="1150" dirty="0"/>
          </a:p>
          <a:p>
            <a:pPr algn="l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合わせた発信ができる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737360" y="4572000"/>
            <a:ext cx="8714232" cy="6858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4572000"/>
            <a:ext cx="8714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広告の「物量」と、インフルエンサーの「信頼」を掛け合わせることで、最大の話題化を狙います。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ユーザーとの接点整理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965960" cy="0"/>
          </a:xfrm>
          <a:prstGeom prst="chevron">
            <a:avLst/>
          </a:prstGeom>
          <a:solidFill>
            <a:srgbClr val="1F2A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1965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554480"/>
            <a:ext cx="1965960" cy="0"/>
          </a:xfrm>
          <a:prstGeom prst="chevron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554480"/>
            <a:ext cx="1965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興味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1965960" cy="0"/>
          </a:xfrm>
          <a:prstGeom prst="chevron">
            <a:avLst/>
          </a:prstGeom>
          <a:solidFill>
            <a:srgbClr val="1F2A4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54480"/>
            <a:ext cx="1965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95160" y="1554480"/>
            <a:ext cx="1965960" cy="0"/>
          </a:xfrm>
          <a:prstGeom prst="chevron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1554480"/>
            <a:ext cx="1965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1554480"/>
            <a:ext cx="1965960" cy="0"/>
          </a:xfrm>
          <a:prstGeom prst="chevron">
            <a:avLst/>
          </a:prstGeom>
          <a:solidFill>
            <a:srgbClr val="1F2A4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1554480"/>
            <a:ext cx="1965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11091672" cy="292608"/>
          </a:xfrm>
          <a:prstGeom prst="rect">
            <a:avLst/>
          </a:prstGeom>
          <a:solidFill>
            <a:srgbClr val="FFF3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317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Meta広告、インフルエンサー投稿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5A8A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「まぐろ切符って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何？」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0" y="288036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F5A8A8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8803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「三崎、近いのに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行ったことないかも」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288036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F5A8A8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8803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「いつ行こうかな、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平日もいいかも」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06640" y="288036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F5A8A8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28803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「行ってよかった、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投稿しよう」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091672" cy="5943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148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→「検討」フェーズで、一部のインフルエンサー投稿が「行くなら平日がおすすめ」という一言を自然に添える設計です。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C8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2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   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222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施策プラン</a:t>
            </a:r>
            <a:endParaRPr lang="en-US" sz="4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施策プラン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One Catch, Many Days.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17373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一本を、話題にする。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5120640" cy="23317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31720"/>
            <a:ext cx="822960" cy="4572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4048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Meta広告（Instagram/Facebook）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9260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短期間で最大リーチを獲得し、認知を一気に引き上げます。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28232" y="2331720"/>
            <a:ext cx="5120640" cy="23317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28232" y="2331720"/>
            <a:ext cx="82296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88352" y="24048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インフルエンサー起用（4組）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56832" y="29260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できる文脈の中で、みさきまぐろきっぷの魅力を伝えます。4組のうち2組には、投稿の中で「行くなら平日がおすすめ」という一言を、さりげなく添えていただきます。（分散は裏テーマのため、値引きや特典は設けません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846320"/>
            <a:ext cx="10543032" cy="77724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846320"/>
            <a:ext cx="10177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SNS懸賞キャンペーンの景品費・PRクーポン原資は、今回の予算（¥3,000,000）には含めていません。話題化の純度を上げるため、広告とインフルエンサー起用の2本に予算を集中させる設計です。将来的に追加検討したい場合は別途ご提案します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インフルエンサー起用候補（参考・京急様提供リストより）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11480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3685032"/>
                <a:gridCol w="2286000"/>
                <a:gridCol w="1828800"/>
              </a:tblGrid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ランク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アカウント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フォロワー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発信地域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旅んちゅLife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IG 50.5万人＋TikTok 21.1万人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旅行先紹介メディア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全国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ひだまり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IG 6.3万人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カップル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東京・関東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なるみ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IG 7.3万人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カップル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東京・関東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ゆたはる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IG 13.8万人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カップル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横浜発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ひとみん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IG 5.6万人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グルメ訴求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東京・関東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みける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IG 6.2万人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カップル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神奈川特化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669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※評価基準・詳細スコアは別紙「01-influencer-list.md」参照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インフルエンサー起用イメージ（4組・予算¥1,500,000内）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94960" cy="14173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旅んちゅLife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18288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全国リーチで最大の話題化を狙う一次情報源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394960" cy="14173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554480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15087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ひだまり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49440" y="18288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東京・関東のカップル層へのリーチ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5394960" cy="1417320"/>
          </a:xfrm>
          <a:prstGeom prst="rect">
            <a:avLst/>
          </a:prstGeom>
          <a:solidFill>
            <a:srgbClr val="FBEFE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108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なるみ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34290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東京・関東のカップル層。投稿内で「行くなら平日がおすすめ」という一言を添える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0" y="3108960"/>
            <a:ext cx="1600200" cy="2743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平日訴求も担当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72200" y="2971800"/>
            <a:ext cx="5394960" cy="1417320"/>
          </a:xfrm>
          <a:prstGeom prst="rect">
            <a:avLst/>
          </a:prstGeom>
          <a:solidFill>
            <a:srgbClr val="FBEFE3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5080" y="3154680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3108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みける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49440" y="34290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神奈川特化・京急沿線親和性トップ。投稿内で「行くなら平日がおすすめ」という一言を添える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829800" y="3108960"/>
            <a:ext cx="1600200" cy="2743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8" name="Text 26"/>
          <p:cNvSpPr/>
          <p:nvPr/>
        </p:nvSpPr>
        <p:spPr>
          <a:xfrm>
            <a:off x="982980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平日訴求も担当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4組のうち2組（なるみ・みける）が、地域密着型のフォロワーに向けて自然な形で分散メッセージを届けます。値引き等は伴わない、あくまでコンテンツ内の一言としての訴求です。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257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※実際の起用費用・組み合わせはキャスティング先へのご確認の上、最終調整をお願いします。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Meta広告（Instagram/Facebook）配信シミュレーション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配信期間：シルバーウィーク前を中心に設定（8月下旬〜9月中旬を想定）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063240" cy="914400"/>
          </a:xfrm>
          <a:prstGeom prst="chevron">
            <a:avLst/>
          </a:prstGeom>
          <a:solidFill>
            <a:srgbClr val="1F2A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¥1,500,000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広告費予算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788920" cy="914400"/>
          </a:xfrm>
          <a:prstGeom prst="chevron">
            <a:avLst/>
          </a:prstGeom>
          <a:solidFill>
            <a:srgbClr val="2E416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691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1,500,000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2103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想定インプレッション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1600200"/>
            <a:ext cx="2514600" cy="914400"/>
          </a:xfrm>
          <a:prstGeom prst="chevron">
            <a:avLst/>
          </a:prstGeom>
          <a:solidFill>
            <a:srgbClr val="3E577F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18,750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2103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クリック数（CTR 1.25%）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1600200"/>
            <a:ext cx="2240280" cy="914400"/>
          </a:xfrm>
          <a:prstGeom prst="chevron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1691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1,500人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6384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送客（LP CVR 8%）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566160" cy="11887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186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¥1,000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3913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CPM（想定）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3108960"/>
            <a:ext cx="3566160" cy="11887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32186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1,500人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297680" y="3913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コンバージョン数（送客）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63840" y="3108960"/>
            <a:ext cx="3867912" cy="11887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3218688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¥1,000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001000" y="3913632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CPA（広告単体）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※CVRは「きっぷ購入ページ到達後の購入」を想定した仮置き数値です。実配信後、クリエイティブ・入札戦略の最適化により改善が見込めます。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送客3,000人の内訳シミュレーション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731520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55448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ルート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予算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送客人数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CAC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Meta広告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¥1,500,000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1,500人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¥1,000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インフルエンサー経由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¥1,500,000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1,500人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¥1,000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¥3,000,000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3,000人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¥1,000（ブレンデッドCAC）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417320"/>
            <a:ext cx="3639312" cy="91440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0" y="1527048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¥11,250,000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0" y="194767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想定売上（¥3,750×3,000人）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92440" y="2423160"/>
            <a:ext cx="3639312" cy="82296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253288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26.6%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0" y="286207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広告宣伝比率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※②はインフルエンサーの投稿エンゲージメント・送客実績をもとにした仮置きの目安です。実施後のトラッキング（投稿別のUTM計測等）で精度を高めていきます。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予算サマリー（総額 ¥3,000,000）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463040"/>
            <a:ext cx="2743200" cy="9601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7" name="Text 4"/>
          <p:cNvSpPr/>
          <p:nvPr/>
        </p:nvSpPr>
        <p:spPr>
          <a:xfrm>
            <a:off x="617220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50.0%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172200" y="20391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インフルエンサー起用費 ¥1,500,000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915400" y="1463040"/>
            <a:ext cx="2468880" cy="96012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0" name="Text 7"/>
          <p:cNvSpPr/>
          <p:nvPr/>
        </p:nvSpPr>
        <p:spPr>
          <a:xfrm>
            <a:off x="9052560" y="1572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50.0%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052560" y="20391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Meta広告配信費 ¥1,500,000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2697480"/>
            <a:ext cx="5349240" cy="100584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2697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CAC目標 ¥1,000／送客目標 3,000人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想定売上 ¥11,250,000／広告宣伝比率 26.6%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39319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※SNS懸賞キャンペーンの景品費・PRクーポン原資は本予算には含めていません（将来的な追加検討事項）。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0515600" cy="0"/>
          </a:xfrm>
          <a:prstGeom prst="line">
            <a:avLst/>
          </a:prstGeom>
          <a:noFill/>
          <a:ln w="25400">
            <a:solidFill>
              <a:srgbClr val="D8D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60320"/>
            <a:ext cx="182880" cy="182880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2560320"/>
            <a:ext cx="182880" cy="182880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2560320"/>
            <a:ext cx="182880" cy="182880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0" y="2560320"/>
            <a:ext cx="182880" cy="182880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0" y="2560320"/>
            <a:ext cx="182880" cy="182880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8月上旬〜中旬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880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インフルエンサー最終選定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投稿企画すり合わせ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（分散メッセージ担当2組を確認）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7180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8月下旬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71800" y="2880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Meta広告 配信開始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（認知獲得フェーズ）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9月上旬〜中旬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0" y="2880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インフルエンサー投稿集中期間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Meta広告（コンバージョン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獲得フェーズへ切替）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0100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9/19（土）〜9/23（水）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01000" y="28803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シルバーウィーク本番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9月下旬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0" y="288036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キャンペーン結果集計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KPI・効果測定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194560" cy="868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一次KPI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送客数（きっぷ購入数） 3,000人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CAC ¥1,000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 ¥11,250,000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19456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副次KPI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Meta広告のインプレッション数・CTR・CVR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インフルエンサー投稿のエンゲージメント率・送客数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2194560" cy="8686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57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参考指標（裏テーマの効果測定）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365760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シルバーウィーク期間中 vs 期間外の購入比率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（分散メッセージを含む2組の投稿経由の購入動向を中心に確認）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みさきまぐろきっぷ SW販促プロモーション  Promotion Proposal 1.0</a:t>
            </a:r>
            <a:pPr algn="l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confidential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41148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ネクストステップ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インフルエンサー4組の最終確定（キャスティング費用の確認含む）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分散メッセージを担当する2組の投稿内容すり合わせ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743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Meta広告クリエイティブ・LPの制作着手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091672" cy="1371600"/>
          </a:xfrm>
          <a:prstGeom prst="rect">
            <a:avLst/>
          </a:prstGeom>
          <a:solidFill>
            <a:srgbClr val="F2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※インフルエンサーのキャスティング費用は個別見積りのため別途確認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※広告クリエイティブ制作費（バナー・LP等）は別途お見積り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※SNS懸賞キャンペーン・PRクーポンを将来的に追加検討したい場合は別途ご提案可能です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0175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FILE END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2026-08-05T02:56:05Z</dcterms:created>
  <dcterms:modified xsi:type="dcterms:W3CDTF">2026-08-05T02:56:05Z</dcterms:modified>
</cp:coreProperties>
</file>